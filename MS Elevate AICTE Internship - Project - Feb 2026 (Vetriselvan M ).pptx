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2"/>
  </p:sldMasterIdLst>
  <p:notesMasterIdLst>
    <p:notesMasterId r:id="rId14"/>
  </p:notesMasterIdLst>
  <p:sldIdLst>
    <p:sldId id="256" r:id="rId3"/>
    <p:sldId id="571" r:id="rId4"/>
    <p:sldId id="572" r:id="rId5"/>
    <p:sldId id="573" r:id="rId6"/>
    <p:sldId id="574" r:id="rId7"/>
    <p:sldId id="575" r:id="rId8"/>
    <p:sldId id="576" r:id="rId9"/>
    <p:sldId id="577" r:id="rId10"/>
    <p:sldId id="579" r:id="rId11"/>
    <p:sldId id="578" r:id="rId12"/>
    <p:sldId id="536" r:id="rId13"/>
  </p:sldIdLst>
  <p:sldSz cx="12192000" cy="6858000"/>
  <p:notesSz cx="6858000" cy="9144000"/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2" userDrawn="1">
          <p15:clr>
            <a:srgbClr val="A4A3A4"/>
          </p15:clr>
        </p15:guide>
        <p15:guide id="2" pos="312" userDrawn="1">
          <p15:clr>
            <a:srgbClr val="A4A3A4"/>
          </p15:clr>
        </p15:guide>
        <p15:guide id="3" orient="horz" pos="91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4B9636B-3D94-EB3D-7CF5-3935240F8C9F}" name="Ramar Bose" initials="RB" userId="S::ramar@edunetfoundation.org::ae727035-80f4-46a2-9b41-59f778a1b49a" providerId="AD"/>
  <p188:author id="{D0A8B7BB-36D1-777B-64C8-9A30C894A727}" name="Rashmi Mishra" initials="RM" userId="S::rmishra@edunetfoundation.org::6469e6c3-66fa-4f4f-9c10-a71ac4161bf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A751"/>
    <a:srgbClr val="263570"/>
    <a:srgbClr val="4A9DE2"/>
    <a:srgbClr val="88BFEC"/>
    <a:srgbClr val="F9B1B1"/>
    <a:srgbClr val="B2DE82"/>
    <a:srgbClr val="F57373"/>
    <a:srgbClr val="F03434"/>
    <a:srgbClr val="BC7D00"/>
    <a:srgbClr val="FFBC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73818" autoAdjust="0"/>
  </p:normalViewPr>
  <p:slideViewPr>
    <p:cSldViewPr snapToGrid="0" showGuides="1">
      <p:cViewPr varScale="1">
        <p:scale>
          <a:sx n="98" d="100"/>
          <a:sy n="98" d="100"/>
        </p:scale>
        <p:origin x="106" y="110"/>
      </p:cViewPr>
      <p:guideLst>
        <p:guide orient="horz" pos="672"/>
        <p:guide pos="312"/>
        <p:guide orient="horz" pos="9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699836-02B7-459A-AF64-A000817D576C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065E4E-ABE4-4C79-8716-B93932D5FBD3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1</a:t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11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FA99E-0146-4BD9-9E30-4EB71F3A4207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81918-31C6-44C6-A382-2FA557A3F6B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3/15/2026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10374086" cy="6604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/>
          <p:cNvSpPr/>
          <p:nvPr userDrawn="1"/>
        </p:nvSpPr>
        <p:spPr>
          <a:xfrm>
            <a:off x="0" y="6692900"/>
            <a:ext cx="12192000" cy="1651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8" name="Picture 4" descr="A black background with grey text&#10;&#10;AI-generated content may be incorrect."/>
          <p:cNvPicPr>
            <a:picLocks noChangeAspect="1" noChangeArrowheads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5905" y="91005"/>
            <a:ext cx="1466678" cy="478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ndap.niti.gov.in/" TargetMode="Externa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-32657" y="3429000"/>
            <a:ext cx="424543" cy="34290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0" y="0"/>
            <a:ext cx="228600" cy="34290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7913913" y="0"/>
            <a:ext cx="4985657" cy="315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-32657" y="6509659"/>
            <a:ext cx="12888684" cy="348341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A black background with grey text&#10;&#10;AI-generated content may be incorrect.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304" y="316620"/>
            <a:ext cx="1725854" cy="56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1999" cy="6857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Title 1"/>
          <p:cNvSpPr>
            <a:spLocks noGrp="1"/>
          </p:cNvSpPr>
          <p:nvPr/>
        </p:nvSpPr>
        <p:spPr>
          <a:xfrm>
            <a:off x="517379" y="1343053"/>
            <a:ext cx="5032506" cy="2617151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kern="1200" dirty="0">
                <a:latin typeface="+mj-lt"/>
                <a:ea typeface="+mj-ea"/>
                <a:cs typeface="+mj-cs"/>
              </a:rPr>
              <a:t>CAPSTONE </a:t>
            </a:r>
            <a:r>
              <a:rPr lang="en-US" sz="2800" b="1" dirty="0"/>
              <a:t>PROJECT</a:t>
            </a:r>
            <a:endParaRPr lang="en-US" sz="5100" dirty="0">
              <a:latin typeface="Aptos"/>
            </a:endParaRPr>
          </a:p>
          <a:p>
            <a:pPr algn="l"/>
            <a:br>
              <a:rPr lang="en-US" sz="5100" b="1" dirty="0"/>
            </a:br>
            <a:r>
              <a:rPr lang="en-US" sz="3600" dirty="0"/>
              <a:t>Education Infrastructure Analysis in India using Power BI</a:t>
            </a:r>
            <a:endParaRPr lang="en-US" sz="3200" dirty="0">
              <a:latin typeface="Aptos"/>
            </a:endParaRPr>
          </a:p>
          <a:p>
            <a:pPr algn="l"/>
            <a:endParaRPr lang="en-US" sz="5100" b="1" kern="1200" dirty="0"/>
          </a:p>
        </p:txBody>
      </p:sp>
      <p:sp>
        <p:nvSpPr>
          <p:cNvPr id="5" name="Subtitle 2"/>
          <p:cNvSpPr>
            <a:spLocks noGrp="1"/>
          </p:cNvSpPr>
          <p:nvPr/>
        </p:nvSpPr>
        <p:spPr>
          <a:xfrm>
            <a:off x="594127" y="3739889"/>
            <a:ext cx="4166512" cy="191553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600"/>
              </a:spcAft>
            </a:pPr>
            <a:r>
              <a:rPr lang="en-US" sz="1600" b="1" cap="all"/>
              <a:t>Presented By</a:t>
            </a:r>
            <a:endParaRPr lang="en-US" sz="1600" cap="all"/>
          </a:p>
          <a:p>
            <a:pPr algn="l">
              <a:spcAft>
                <a:spcPts val="600"/>
              </a:spcAft>
            </a:pPr>
            <a:r>
              <a:rPr lang="en-US" sz="1600" b="1" cap="all"/>
              <a:t>Student Name:</a:t>
            </a:r>
          </a:p>
          <a:p>
            <a:pPr algn="l">
              <a:spcAft>
                <a:spcPts val="600"/>
              </a:spcAft>
            </a:pPr>
            <a:r>
              <a:rPr lang="en-US" sz="1600" b="1" cap="all"/>
              <a:t>College Name:</a:t>
            </a:r>
          </a:p>
          <a:p>
            <a:pPr algn="l">
              <a:spcAft>
                <a:spcPts val="600"/>
              </a:spcAft>
            </a:pPr>
            <a:r>
              <a:rPr lang="en-US" sz="1600" b="1" cap="all"/>
              <a:t>Department:</a:t>
            </a:r>
          </a:p>
          <a:p>
            <a:pPr algn="l">
              <a:spcAft>
                <a:spcPts val="600"/>
              </a:spcAft>
            </a:pPr>
            <a:r>
              <a:rPr lang="en-US" sz="1600" b="1" cap="all"/>
              <a:t>Email ID:</a:t>
            </a:r>
          </a:p>
        </p:txBody>
      </p:sp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AD0203-FF5F-967B-1083-ADAB06A22306}"/>
              </a:ext>
            </a:extLst>
          </p:cNvPr>
          <p:cNvSpPr txBox="1"/>
          <p:nvPr/>
        </p:nvSpPr>
        <p:spPr>
          <a:xfrm>
            <a:off x="2198111" y="4124500"/>
            <a:ext cx="21863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VETRISELVAN 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850A89-BC2C-C265-6F8B-4D23914798CF}"/>
              </a:ext>
            </a:extLst>
          </p:cNvPr>
          <p:cNvSpPr txBox="1"/>
          <p:nvPr/>
        </p:nvSpPr>
        <p:spPr>
          <a:xfrm>
            <a:off x="2147805" y="4534033"/>
            <a:ext cx="56772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SNS COLLEGE OF TECHNOLOGY</a:t>
            </a:r>
            <a:endParaRPr lang="en-IN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515EFC-12DE-1F7B-A696-25E76693819A}"/>
              </a:ext>
            </a:extLst>
          </p:cNvPr>
          <p:cNvSpPr txBox="1"/>
          <p:nvPr/>
        </p:nvSpPr>
        <p:spPr>
          <a:xfrm>
            <a:off x="2198111" y="4947540"/>
            <a:ext cx="64672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BTECH IT </a:t>
            </a:r>
            <a:endParaRPr lang="en-IN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8B8409-D8F4-A797-9311-F6740F2960AE}"/>
              </a:ext>
            </a:extLst>
          </p:cNvPr>
          <p:cNvSpPr txBox="1"/>
          <p:nvPr/>
        </p:nvSpPr>
        <p:spPr>
          <a:xfrm>
            <a:off x="2134546" y="5388266"/>
            <a:ext cx="64672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vetriselvan.m.it.2023@snsct.org</a:t>
            </a:r>
            <a:endParaRPr lang="en-IN" sz="16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892BA04-59FA-5252-406F-312D8914CFE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8589" y="315686"/>
            <a:ext cx="5101103" cy="6162731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91" y="69850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5400" b="1" cap="all" dirty="0">
                <a:latin typeface="Arial" panose="020B0604020202020204"/>
                <a:cs typeface="Arial" panose="020B0604020202020204"/>
              </a:rPr>
              <a:t>OUTLINE:</a:t>
            </a:r>
            <a:endParaRPr lang="en-US" sz="5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387" y="1822228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 panose="020B0604020202020204"/>
                <a:cs typeface="Arial" panose="020B0604020202020204"/>
              </a:rPr>
              <a:t>Problem Statement 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 panose="020B0604020202020204"/>
                <a:cs typeface="Arial" panose="020B0604020202020204"/>
              </a:rPr>
              <a:t>Proposed System/Solution</a:t>
            </a:r>
            <a:endParaRPr lang="en-US" sz="2200" dirty="0">
              <a:latin typeface="Arial" panose="020B0604020202020204"/>
              <a:cs typeface="Arial" panose="020B0604020202020204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 panose="020B0604020202020204"/>
                <a:cs typeface="Arial" panose="020B0604020202020204"/>
              </a:rPr>
              <a:t>System Development Approach 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 panose="020B0604020202020204"/>
                <a:cs typeface="Arial" panose="020B0604020202020204"/>
              </a:rPr>
              <a:t>Algorithm &amp; Deployment  </a:t>
            </a:r>
            <a:endParaRPr lang="en-US" sz="2200" dirty="0">
              <a:latin typeface="Arial" panose="020B0604020202020204"/>
              <a:cs typeface="Arial" panose="020B0604020202020204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 panose="020B0604020202020204"/>
                <a:cs typeface="Arial" panose="020B0604020202020204"/>
              </a:rPr>
              <a:t>Result (Output Image)</a:t>
            </a:r>
            <a:endParaRPr lang="en-US" sz="2200" dirty="0">
              <a:latin typeface="Arial" panose="020B0604020202020204"/>
              <a:cs typeface="Arial" panose="020B0604020202020204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 panose="020B0604020202020204"/>
                <a:cs typeface="Arial" panose="020B0604020202020204"/>
              </a:rPr>
              <a:t>Conclusion</a:t>
            </a:r>
            <a:endParaRPr lang="en-US" sz="2200" dirty="0">
              <a:latin typeface="Arial" panose="020B0604020202020204"/>
              <a:cs typeface="Arial" panose="020B0604020202020204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 panose="020B0604020202020204"/>
                <a:cs typeface="Arial" panose="020B0604020202020204"/>
              </a:rPr>
              <a:t>Future Scope</a:t>
            </a:r>
            <a:endParaRPr lang="en-US" sz="2200" dirty="0">
              <a:latin typeface="Arial" panose="020B0604020202020204"/>
              <a:cs typeface="Arial" panose="020B0604020202020204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 panose="020B0604020202020204"/>
                <a:cs typeface="Arial" panose="020B0604020202020204"/>
              </a:rPr>
              <a:t>References</a:t>
            </a:r>
            <a:endParaRPr lang="en-US" sz="2200" dirty="0">
              <a:latin typeface="Arial" panose="020B0604020202020204"/>
              <a:cs typeface="Arial" panose="020B0604020202020204"/>
            </a:endParaRPr>
          </a:p>
          <a:p>
            <a:endParaRPr lang="en-GB" sz="2200" dirty="0">
              <a:latin typeface="Aptos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91" y="68659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Problem Statement:</a:t>
            </a:r>
            <a:endParaRPr lang="en-US" sz="4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512" y="1715071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 dirty="0"/>
              <a:t>Education infrastructure plays a crucial role in improving the quality of education in a country. However, analyzing the distribution of educational institutions across different states can be difficult without proper data visualization tools.</a:t>
            </a:r>
          </a:p>
          <a:p>
            <a:r>
              <a:rPr lang="en-US" sz="2400" dirty="0"/>
              <a:t>Traditional reports often fail to provide clear insights into the number of schools available at different education levels such as primary, upper primary, secondary, and senior secondary.</a:t>
            </a:r>
          </a:p>
          <a:p>
            <a:r>
              <a:rPr lang="en-US" sz="2400" dirty="0"/>
              <a:t>Therefore, there is a need for a data-driven system that can analyze educational infrastructure and present insights through interactive visual dashboards to support better decision making.</a:t>
            </a:r>
          </a:p>
          <a:p>
            <a:pPr marL="0" indent="0"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91" y="60325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Proposed Solution: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9075" y="1304306"/>
            <a:ext cx="10515600" cy="425196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dirty="0"/>
              <a:t>The proposed system aims to analyze education infrastructure data using </a:t>
            </a:r>
            <a:r>
              <a:rPr lang="en-US" sz="2400" b="1" dirty="0"/>
              <a:t>Power BI</a:t>
            </a:r>
            <a:r>
              <a:rPr lang="en-US" sz="2400" dirty="0"/>
              <a:t>.</a:t>
            </a:r>
          </a:p>
          <a:p>
            <a:r>
              <a:rPr lang="en-US" sz="2400" dirty="0"/>
              <a:t>The solution provides an interactive dashboard that visualizes the number of educational institutions across different states and education levels.</a:t>
            </a:r>
          </a:p>
          <a:p>
            <a:r>
              <a:rPr lang="en-US" sz="2400" dirty="0"/>
              <a:t>The dashboard helps to:</a:t>
            </a:r>
          </a:p>
          <a:p>
            <a:r>
              <a:rPr lang="en-US" sz="2400" dirty="0"/>
              <a:t>• Identify states with higher or lower numbers of schools</a:t>
            </a:r>
            <a:br>
              <a:rPr lang="en-US" sz="2400" dirty="0"/>
            </a:br>
            <a:r>
              <a:rPr lang="en-US" sz="2400" dirty="0"/>
              <a:t>• Compare different types of schools</a:t>
            </a:r>
            <a:br>
              <a:rPr lang="en-US" sz="2400" dirty="0"/>
            </a:br>
            <a:r>
              <a:rPr lang="en-US" sz="2400" dirty="0"/>
              <a:t>• Understand the distribution of educational institutions</a:t>
            </a:r>
            <a:br>
              <a:rPr lang="en-US" sz="2400" dirty="0"/>
            </a:br>
            <a:r>
              <a:rPr lang="en-US" sz="2400" dirty="0"/>
              <a:t>• Provide insights for policymakers and education planners</a:t>
            </a:r>
          </a:p>
          <a:p>
            <a:r>
              <a:rPr lang="en-US" sz="2400" dirty="0"/>
              <a:t>This system helps convert raw data into meaningful visual insights.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 panose="020B0604020202020204"/>
              <a:buChar char="•"/>
            </a:pPr>
            <a:endParaRPr lang="en-GB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48" y="699528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System  Approach: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7409" y="1715586"/>
            <a:ext cx="10515600" cy="4251960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r>
              <a:rPr lang="en-IN" sz="2400" b="1" dirty="0"/>
              <a:t>Tools &amp; Technologies Used</a:t>
            </a:r>
            <a:endParaRPr lang="en-IN" sz="2400" dirty="0"/>
          </a:p>
          <a:p>
            <a:r>
              <a:rPr lang="en-IN" sz="2400" dirty="0"/>
              <a:t>• Power BI Desktop – Data Visualization</a:t>
            </a:r>
            <a:br>
              <a:rPr lang="en-IN" sz="2400" dirty="0"/>
            </a:br>
            <a:r>
              <a:rPr lang="en-IN" sz="2400" dirty="0"/>
              <a:t>• Microsoft Excel / CSV – Data Storage</a:t>
            </a:r>
            <a:br>
              <a:rPr lang="en-IN" sz="2400" dirty="0"/>
            </a:br>
            <a:r>
              <a:rPr lang="en-IN" sz="2400" dirty="0"/>
              <a:t>• NDAP (National Data &amp; Analytics Platform) – Dataset Source</a:t>
            </a:r>
          </a:p>
          <a:p>
            <a:r>
              <a:rPr lang="en-IN" sz="2400" b="1" dirty="0"/>
              <a:t>Development Steps</a:t>
            </a:r>
            <a:endParaRPr lang="en-IN" sz="2400" dirty="0"/>
          </a:p>
          <a:p>
            <a:r>
              <a:rPr lang="en-IN" sz="2400" dirty="0"/>
              <a:t>Data Collection from NDAP dataset</a:t>
            </a:r>
          </a:p>
          <a:p>
            <a:r>
              <a:rPr lang="en-IN" sz="2400" dirty="0"/>
              <a:t>Data Cleaning and Preprocessing</a:t>
            </a:r>
          </a:p>
          <a:p>
            <a:r>
              <a:rPr lang="en-IN" sz="2400" dirty="0"/>
              <a:t>Data Transformation</a:t>
            </a:r>
          </a:p>
          <a:p>
            <a:r>
              <a:rPr lang="en-IN" sz="2400" dirty="0"/>
              <a:t>Data Visualization using Power BI</a:t>
            </a:r>
          </a:p>
          <a:p>
            <a:r>
              <a:rPr lang="en-IN" sz="2400" dirty="0"/>
              <a:t>Dashboard Creation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endParaRPr lang="en-GB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91" y="68659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Algorithm &amp; Deployment: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707" y="1572196"/>
            <a:ext cx="11691815" cy="4914573"/>
          </a:xfrm>
        </p:spPr>
        <p:txBody>
          <a:bodyPr vert="horz" lIns="91440" tIns="45720" rIns="91440" bIns="45720" rtlCol="0">
            <a:normAutofit fontScale="25000" lnSpcReduction="20000"/>
          </a:bodyPr>
          <a:lstStyle/>
          <a:p>
            <a:pPr marL="0" indent="0">
              <a:buNone/>
            </a:pPr>
            <a:r>
              <a:rPr lang="en-US" sz="7200" b="1" dirty="0"/>
              <a:t>Algorithm / Data Processing Steps</a:t>
            </a:r>
          </a:p>
          <a:p>
            <a:pPr marL="0" indent="0">
              <a:buNone/>
            </a:pPr>
            <a:r>
              <a:rPr lang="en-US" sz="7200" dirty="0"/>
              <a:t>The project follows a structured data analysis workflow to transform raw educational data into meaningful insights.</a:t>
            </a:r>
          </a:p>
          <a:p>
            <a:r>
              <a:rPr lang="en-US" sz="7200" b="1" dirty="0"/>
              <a:t>Step 1 – Data Collection</a:t>
            </a:r>
            <a:br>
              <a:rPr lang="en-US" sz="7200" dirty="0"/>
            </a:br>
            <a:r>
              <a:rPr lang="en-US" sz="7200" dirty="0"/>
              <a:t>The dataset was collected from the </a:t>
            </a:r>
            <a:r>
              <a:rPr lang="en-US" sz="7200" b="1" dirty="0"/>
              <a:t>National Data &amp; Analytics Platform (NDAP)</a:t>
            </a:r>
            <a:r>
              <a:rPr lang="en-US" sz="7200" dirty="0"/>
              <a:t> which provides government datasets related to various sectors including education.</a:t>
            </a:r>
          </a:p>
          <a:p>
            <a:r>
              <a:rPr lang="en-US" sz="7200" b="1" dirty="0"/>
              <a:t>Step 2 – Data Cleaning</a:t>
            </a:r>
            <a:br>
              <a:rPr lang="en-US" sz="7200" dirty="0"/>
            </a:br>
            <a:r>
              <a:rPr lang="en-US" sz="7200" dirty="0"/>
              <a:t>The dataset was cleaned by removing unnecessary rows, correcting column names, and ensuring proper data formats for analysis.</a:t>
            </a:r>
          </a:p>
          <a:p>
            <a:r>
              <a:rPr lang="en-US" sz="7200" b="1" dirty="0"/>
              <a:t>Step 3 – Data Transformation</a:t>
            </a:r>
            <a:br>
              <a:rPr lang="en-US" sz="7200" dirty="0"/>
            </a:br>
            <a:r>
              <a:rPr lang="en-US" sz="7200" dirty="0"/>
              <a:t>Data was transformed and organized using Power BI to prepare it for visualization. Additional calculated fields such as total number of schools were created.</a:t>
            </a:r>
          </a:p>
          <a:p>
            <a:r>
              <a:rPr lang="en-US" sz="7200" b="1" dirty="0"/>
              <a:t>Step 4 – Data Visualization</a:t>
            </a:r>
            <a:br>
              <a:rPr lang="en-US" sz="7200" dirty="0"/>
            </a:br>
            <a:r>
              <a:rPr lang="en-US" sz="7200" dirty="0"/>
              <a:t>Different Power BI visuals such as KPI cards, bar charts, stacked column charts, and pie charts were used to analyze the distribution of schools across states and education levels.</a:t>
            </a:r>
            <a:br>
              <a:rPr lang="en-US" sz="7200" dirty="0"/>
            </a:br>
            <a:endParaRPr lang="en-US" sz="7200" dirty="0"/>
          </a:p>
          <a:p>
            <a:pPr marL="0" indent="0">
              <a:buNone/>
            </a:pPr>
            <a:r>
              <a:rPr lang="en-US" sz="7200" b="1" dirty="0"/>
              <a:t>Deployment</a:t>
            </a:r>
          </a:p>
          <a:p>
            <a:r>
              <a:rPr lang="en-US" sz="7200" dirty="0"/>
              <a:t>The final Power BI dashboard was deployed locally using </a:t>
            </a:r>
            <a:r>
              <a:rPr lang="en-US" sz="7200" b="1" dirty="0"/>
              <a:t>Power BI Desktop</a:t>
            </a:r>
            <a:r>
              <a:rPr lang="en-US" sz="7200" dirty="0"/>
              <a:t>. The dashboard allows users to interact with the data and view insights through visual representations.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  <a:buFont typeface="Arial" panose="020B0604020202020204"/>
              <a:buChar char="•"/>
            </a:pPr>
            <a:endParaRPr lang="en-GB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91" y="60325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Result:</a:t>
            </a:r>
            <a:endParaRPr lang="en-US" sz="4000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794363F-A4F8-7F9D-9BB7-80B27AB865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9166274-A4EF-E0BF-56CE-8F0F74A58F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40" y="1187877"/>
            <a:ext cx="9520643" cy="556326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Conclusion: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2589" y="1622391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 dirty="0"/>
              <a:t>This project successfully analyzed the distribution of educational institutions across different states using Power BI.</a:t>
            </a:r>
          </a:p>
          <a:p>
            <a:r>
              <a:rPr lang="en-US" sz="2400" dirty="0"/>
              <a:t>The dashboard provides clear insights into the availability of schools at different education levels. Visualizing the data helps identify patterns and gaps in educational infrastructure.</a:t>
            </a:r>
          </a:p>
          <a:p>
            <a:r>
              <a:rPr lang="en-US" sz="2400" dirty="0"/>
              <a:t>Such analysis can support better planning and resource allocation in the education sector.</a:t>
            </a:r>
          </a:p>
          <a:p>
            <a:pPr marL="0" indent="0"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Future scope: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071" y="1304434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endParaRPr lang="en-US" sz="2200" dirty="0">
              <a:latin typeface="Franklin Gothic Book" panose="020B0503020102020204"/>
            </a:endParaRPr>
          </a:p>
          <a:p>
            <a:r>
              <a:rPr lang="en-US" sz="2400" dirty="0"/>
              <a:t>The project can be enhanced in the future by:</a:t>
            </a:r>
          </a:p>
          <a:p>
            <a:pPr marL="0" indent="0">
              <a:buNone/>
            </a:pPr>
            <a:r>
              <a:rPr lang="en-US" sz="2400" dirty="0"/>
              <a:t>• Adding data from multiple years to analyze trends over time</a:t>
            </a:r>
            <a:br>
              <a:rPr lang="en-US" sz="2400" dirty="0"/>
            </a:br>
            <a:r>
              <a:rPr lang="en-US" sz="2400" dirty="0"/>
              <a:t>• Including more states and districts for detailed analysis</a:t>
            </a:r>
            <a:br>
              <a:rPr lang="en-US" sz="2400" dirty="0"/>
            </a:br>
            <a:r>
              <a:rPr lang="en-US" sz="2400" dirty="0"/>
              <a:t>• Integrating additional educational indicators such as student enrollment and teacher ratio</a:t>
            </a:r>
            <a:br>
              <a:rPr lang="en-US" sz="2400" dirty="0"/>
            </a:br>
            <a:r>
              <a:rPr lang="en-US" sz="2400" dirty="0"/>
              <a:t>• Using predictive analytics to forecast future infrastructure needs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sz="2200" dirty="0">
                <a:latin typeface="Franklin Gothic Book" panose="020B0503020102020204"/>
              </a:rPr>
              <a:t>.</a:t>
            </a:r>
            <a:endParaRPr lang="en-GB" sz="2200" dirty="0"/>
          </a:p>
          <a:p>
            <a:pPr marL="0" indent="0">
              <a:buNone/>
            </a:pPr>
            <a:endParaRPr lang="en-GB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References:</a:t>
            </a:r>
            <a:endParaRPr lang="en-US" sz="4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6804" y="1551125"/>
            <a:ext cx="10515600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dirty="0"/>
              <a:t>• National Data &amp; Analytics Platform (NDAP)</a:t>
            </a:r>
            <a:br>
              <a:rPr lang="en-US" sz="2400" dirty="0"/>
            </a:br>
            <a:r>
              <a:rPr lang="en-US" sz="2400" dirty="0">
                <a:hlinkClick r:id="rId2"/>
              </a:rPr>
              <a:t>https://ndap.niti.gov.in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• Microsoft Power BI Documentation</a:t>
            </a:r>
            <a:br>
              <a:rPr lang="en-US" sz="2400" dirty="0"/>
            </a:br>
            <a:r>
              <a:rPr lang="en-US" sz="2400" dirty="0"/>
              <a:t>https://learn.microsoft.com/power-bi</a:t>
            </a:r>
          </a:p>
          <a:p>
            <a:pPr marL="0" indent="0">
              <a:buNone/>
            </a:pPr>
            <a:r>
              <a:rPr lang="en-US" sz="2400" dirty="0"/>
              <a:t>• Data Visualization Best Practices</a:t>
            </a:r>
          </a:p>
          <a:p>
            <a:pPr marL="0" indent="0">
              <a:buNone/>
            </a:pPr>
            <a:r>
              <a:rPr lang="en-IN" sz="2200" dirty="0">
                <a:latin typeface="Franklin Gothic Book" panose="020B0503020102020204"/>
              </a:rPr>
              <a:t>GitHub Link:</a:t>
            </a:r>
            <a:r>
              <a:rPr lang="en-IN" sz="2200" dirty="0">
                <a:solidFill>
                  <a:srgbClr val="0070C0"/>
                </a:solidFill>
                <a:latin typeface="Franklin Gothic Book" panose="020B0503020102020204"/>
              </a:rPr>
              <a:t> </a:t>
            </a:r>
            <a:r>
              <a:rPr lang="en-IN" sz="2200" u="sng" dirty="0">
                <a:solidFill>
                  <a:srgbClr val="0070C0"/>
                </a:solidFill>
                <a:latin typeface="Franklin Gothic Book" panose="020B0503020102020204"/>
              </a:rPr>
              <a:t>Link</a:t>
            </a:r>
          </a:p>
          <a:p>
            <a:pPr marL="0" indent="0">
              <a:buNone/>
            </a:pPr>
            <a:endParaRPr lang="en-IN" sz="2200" u="sng" dirty="0">
              <a:solidFill>
                <a:srgbClr val="0070C0"/>
              </a:solidFill>
              <a:latin typeface="Franklin Gothic Book" panose="020B0503020102020204"/>
            </a:endParaRPr>
          </a:p>
          <a:p>
            <a:pPr marL="0" indent="0">
              <a:buNone/>
            </a:pPr>
            <a:endParaRPr lang="en-IN" sz="2200" dirty="0">
              <a:latin typeface="Franklin Gothic Book" panose="020B05030201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/>
          <p:cNvSpPr txBox="1"/>
          <p:nvPr/>
        </p:nvSpPr>
        <p:spPr>
          <a:xfrm>
            <a:off x="314324" y="6312352"/>
            <a:ext cx="3724275" cy="295275"/>
          </a:xfrm>
          <a:prstGeom prst="rect">
            <a:avLst/>
          </a:prstGeom>
        </p:spPr>
        <p:txBody>
          <a:bodyPr/>
          <a:lstStyle>
            <a:lvl1pPr marL="228600" indent="-2286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00" indent="-1905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0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8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990" indent="-173990">
              <a:buFont typeface="Arial" panose="020B0604020202020204" pitchFamily="34" charset="0"/>
              <a:buNone/>
            </a:pP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3"/>
          <p:cNvSpPr txBox="1"/>
          <p:nvPr/>
        </p:nvSpPr>
        <p:spPr>
          <a:xfrm>
            <a:off x="3247621" y="3009471"/>
            <a:ext cx="5696757" cy="839057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ctr" defTabSz="609600" rtl="0" eaLnBrk="1" latinLnBrk="0" hangingPunct="1">
              <a:spcBef>
                <a:spcPct val="0"/>
              </a:spcBef>
              <a:buNone/>
              <a:defRPr sz="293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Thank You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1_OFFICE THEME" val="TmdBxN3j"/>
  <p:tag name="ARTICULATE_PROJECT_OPEN" val="0"/>
  <p:tag name="ARTICULATE_SLIDE_COUNT" val="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660</Words>
  <Application>Microsoft Office PowerPoint</Application>
  <PresentationFormat>Widescreen</PresentationFormat>
  <Paragraphs>66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Franklin Gothic Book</vt:lpstr>
      <vt:lpstr>1_Office Theme</vt:lpstr>
      <vt:lpstr>Custom Design</vt:lpstr>
      <vt:lpstr>PowerPoint Presentation</vt:lpstr>
      <vt:lpstr>OUTLINE:</vt:lpstr>
      <vt:lpstr>Problem Statement:</vt:lpstr>
      <vt:lpstr>Proposed Solution:</vt:lpstr>
      <vt:lpstr>System  Approach:</vt:lpstr>
      <vt:lpstr>Algorithm &amp; Deployment:</vt:lpstr>
      <vt:lpstr>Result:</vt:lpstr>
      <vt:lpstr>Conclusion:</vt:lpstr>
      <vt:lpstr>Future scope:</vt:lpstr>
      <vt:lpstr>References: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Vikrant Nath Nagar</dc:creator>
  <cp:lastModifiedBy>Vetriselvan M</cp:lastModifiedBy>
  <cp:revision>102</cp:revision>
  <dcterms:created xsi:type="dcterms:W3CDTF">2024-05-21T11:55:00Z</dcterms:created>
  <dcterms:modified xsi:type="dcterms:W3CDTF">2026-03-15T14:23:43Z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8775663C-0243-495A-BCAB-F653BDE41EC7</vt:lpwstr>
  </property>
  <property fmtid="{D5CDD505-2E9C-101B-9397-08002B2CF9AE}" pid="3" name="ArticulatePath">
    <vt:lpwstr>https://edunetfoundationorg-my.sharepoint.com/personal/kaisar_edunetfoundation_org/Documents/Beutified ppt/MSITI/Micro Degree/Content/Module 4 Data Science/PPT/1. Introduction to Data Science</vt:lpwstr>
  </property>
  <property fmtid="{D5CDD505-2E9C-101B-9397-08002B2CF9AE}" pid="4" name="ICV">
    <vt:lpwstr>EE4E1345D65D4F85A477FE2A1A549664_12</vt:lpwstr>
  </property>
  <property fmtid="{D5CDD505-2E9C-101B-9397-08002B2CF9AE}" pid="5" name="KSOProductBuildVer">
    <vt:lpwstr>1033-12.2.0.23155</vt:lpwstr>
  </property>
</Properties>
</file>